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75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478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724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439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546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718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659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344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433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458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751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6034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04498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2722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5151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3592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2341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159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061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1417320"/>
            <a:ext cx="9041642" cy="12772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dirty="0"/>
              <a:t>CASE STUDY ANALYSIS</a:t>
            </a:r>
          </a:p>
          <a:p>
            <a:pPr>
              <a:spcBef>
                <a:spcPts val="1800"/>
              </a:spcBef>
              <a:defRPr sz="2800">
                <a:solidFill>
                  <a:srgbClr val="BEEBEB"/>
                </a:solidFill>
              </a:defRPr>
            </a:pP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Moderna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mRNA Technology &amp; Its Impact on Biotechnology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79" y="4297680"/>
            <a:ext cx="68558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Rounded MT Bold" panose="020F0704030504030204" pitchFamily="34" charset="0"/>
              </a:rPr>
              <a:t>CodeAlpha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Rounded MT Bold" panose="020F0704030504030204" pitchFamily="34" charset="0"/>
              </a:rPr>
              <a:t>Biotechnology </a:t>
            </a:r>
            <a:r>
              <a:rPr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Rounded MT Bold" panose="020F0704030504030204" pitchFamily="34" charset="0"/>
              </a:rPr>
              <a:t>Internship</a:t>
            </a:r>
            <a:endParaRPr lang="en-US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Arial Rounded MT Bold" panose="020F0704030504030204" pitchFamily="34" charset="0"/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endParaRPr sz="2400" dirty="0">
              <a:solidFill>
                <a:schemeClr val="tx1">
                  <a:lumMod val="95000"/>
                  <a:lumOff val="5000"/>
                </a:schemeClr>
              </a:solidFill>
              <a:latin typeface="Arial Rounded MT Bold" panose="020F0704030504030204" pitchFamily="34" charset="0"/>
            </a:endParaRP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 Rounded MT Bold" panose="020F0704030504030204" pitchFamily="34" charset="0"/>
              </a:rPr>
              <a:t>Prepared </a:t>
            </a:r>
            <a:r>
              <a:rPr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Rounded MT Bold" panose="020F0704030504030204" pitchFamily="34" charset="0"/>
              </a:rPr>
              <a:t>by</a:t>
            </a:r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Rounded MT Bold" panose="020F0704030504030204" pitchFamily="34" charset="0"/>
              </a:rPr>
              <a:t>: Fatima </a:t>
            </a:r>
            <a:r>
              <a:rPr lang="en-US" sz="24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Rounded MT Bold" panose="020F0704030504030204" pitchFamily="34" charset="0"/>
              </a:rPr>
              <a:t>Qasim</a:t>
            </a:r>
            <a:endParaRPr sz="2400" dirty="0">
              <a:solidFill>
                <a:schemeClr val="tx1">
                  <a:lumMod val="95000"/>
                  <a:lumOff val="5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4880" y="434340"/>
            <a:ext cx="962732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4253F"/>
                </a:solidFill>
              </a:defRPr>
            </a:pPr>
            <a:r>
              <a:rPr sz="4400" dirty="0"/>
              <a:t>Company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327" y="1838266"/>
            <a:ext cx="1060704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Founded in 2010; </a:t>
            </a:r>
            <a:r>
              <a:rPr sz="2400" dirty="0" err="1"/>
              <a:t>Moderna</a:t>
            </a:r>
            <a:r>
              <a:rPr sz="2400" dirty="0"/>
              <a:t> is a biotechnology and pharmaceutical company focused on mRNA medicines.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Core platform: design, engineering, manufacturing and delivery of messenger RNA.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The company applies mRNA to vaccines and other therapeutic areas.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COVID-19 vaccination provided a major real-world demonstration of the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11480"/>
            <a:ext cx="1062881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4253F"/>
                </a:solidFill>
              </a:defRPr>
            </a:pPr>
            <a:r>
              <a:rPr sz="4400" dirty="0"/>
              <a:t>What Is mRNA Technology?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97198"/>
            <a:ext cx="1060704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Messenger RNA (mRNA) carries temporary instructions that cells can use to make a specific protein.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In an mRNA vaccine, the RNA provides instructions for producing an antigen rather than delivering the antigen itself.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After the protein is produced, the immune system recognizes it and develops an immune response.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Advances in mRNA stabilization, formulation and manufacturing made the technology clinically practical.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59325" y="442870"/>
            <a:ext cx="884287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4253F"/>
                </a:solidFill>
              </a:defRPr>
            </a:pPr>
            <a:r>
              <a:rPr sz="4400" dirty="0" err="1"/>
              <a:t>Moderna's</a:t>
            </a:r>
            <a:r>
              <a:rPr sz="4400" dirty="0"/>
              <a:t> Biotechnology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28395"/>
            <a:ext cx="1060704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</a:t>
            </a:r>
            <a:r>
              <a:rPr sz="2400" dirty="0" err="1"/>
              <a:t>Moderna</a:t>
            </a:r>
            <a:r>
              <a:rPr sz="2400" dirty="0"/>
              <a:t> developed an integrated mRNA platform combining sequence design, manufacturing and delivery.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mRNA sequences can be redesigned relatively quickly when the target protein changes.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Lipid nanoparticles (LNPs) protect mRNA and facilitate delivery into cells.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The same broad platform can be adapted for different targets by changing the encoded sequence.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27383" y="411480"/>
            <a:ext cx="710675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4253F"/>
                </a:solidFill>
              </a:defRPr>
            </a:pPr>
            <a:r>
              <a:rPr sz="4400"/>
              <a:t>How an mRNA Vaccine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047" y="1571362"/>
            <a:ext cx="453752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rPr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Rounded MT Bold" panose="020F0704030504030204" pitchFamily="34" charset="0"/>
              </a:rPr>
              <a:t>Core biotechnology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737360" cy="960120"/>
          </a:xfrm>
          <a:prstGeom prst="roundRect">
            <a:avLst/>
          </a:prstGeom>
          <a:solidFill>
            <a:srgbClr val="F4F8F9"/>
          </a:solidFill>
          <a:ln>
            <a:solidFill>
              <a:srgbClr val="21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53F"/>
                </a:solidFill>
              </a:defRPr>
            </a:pPr>
            <a:r>
              <a:t>mRNA design</a:t>
            </a:r>
          </a:p>
        </p:txBody>
      </p:sp>
      <p:sp>
        <p:nvSpPr>
          <p:cNvPr id="6" name="Chevron 5"/>
          <p:cNvSpPr/>
          <p:nvPr/>
        </p:nvSpPr>
        <p:spPr>
          <a:xfrm>
            <a:off x="2542032" y="2679192"/>
            <a:ext cx="320040" cy="457200"/>
          </a:xfrm>
          <a:prstGeom prst="chevron">
            <a:avLst/>
          </a:prstGeom>
          <a:solidFill>
            <a:srgbClr val="21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971800" y="2423160"/>
            <a:ext cx="1737360" cy="960120"/>
          </a:xfrm>
          <a:prstGeom prst="roundRect">
            <a:avLst/>
          </a:prstGeom>
          <a:solidFill>
            <a:srgbClr val="F4F8F9"/>
          </a:solidFill>
          <a:ln>
            <a:solidFill>
              <a:srgbClr val="21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53F"/>
                </a:solidFill>
              </a:defRPr>
            </a:pPr>
            <a:r>
              <a:t>LNP delivery</a:t>
            </a:r>
          </a:p>
        </p:txBody>
      </p:sp>
      <p:sp>
        <p:nvSpPr>
          <p:cNvPr id="8" name="Chevron 7"/>
          <p:cNvSpPr/>
          <p:nvPr/>
        </p:nvSpPr>
        <p:spPr>
          <a:xfrm>
            <a:off x="4782312" y="2679192"/>
            <a:ext cx="320040" cy="457200"/>
          </a:xfrm>
          <a:prstGeom prst="chevron">
            <a:avLst/>
          </a:prstGeom>
          <a:solidFill>
            <a:srgbClr val="21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212080" y="2423160"/>
            <a:ext cx="1737360" cy="960120"/>
          </a:xfrm>
          <a:prstGeom prst="roundRect">
            <a:avLst/>
          </a:prstGeom>
          <a:solidFill>
            <a:srgbClr val="F4F8F9"/>
          </a:solidFill>
          <a:ln>
            <a:solidFill>
              <a:srgbClr val="21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53F"/>
                </a:solidFill>
              </a:defRPr>
            </a:pPr>
            <a:r>
              <a:t>Cell uptake</a:t>
            </a:r>
          </a:p>
        </p:txBody>
      </p:sp>
      <p:sp>
        <p:nvSpPr>
          <p:cNvPr id="10" name="Chevron 9"/>
          <p:cNvSpPr/>
          <p:nvPr/>
        </p:nvSpPr>
        <p:spPr>
          <a:xfrm>
            <a:off x="7022592" y="2679192"/>
            <a:ext cx="320040" cy="457200"/>
          </a:xfrm>
          <a:prstGeom prst="chevron">
            <a:avLst/>
          </a:prstGeom>
          <a:solidFill>
            <a:srgbClr val="21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52360" y="2423160"/>
            <a:ext cx="1737360" cy="960120"/>
          </a:xfrm>
          <a:prstGeom prst="roundRect">
            <a:avLst/>
          </a:prstGeom>
          <a:solidFill>
            <a:srgbClr val="F4F8F9"/>
          </a:solidFill>
          <a:ln>
            <a:solidFill>
              <a:srgbClr val="21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53F"/>
                </a:solidFill>
              </a:defRPr>
            </a:pPr>
            <a:r>
              <a:t>Protein production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9262872" y="2679192"/>
            <a:ext cx="320040" cy="457200"/>
          </a:xfrm>
          <a:prstGeom prst="chevron">
            <a:avLst/>
          </a:prstGeom>
          <a:solidFill>
            <a:srgbClr val="21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692640" y="2423160"/>
            <a:ext cx="1737360" cy="960120"/>
          </a:xfrm>
          <a:prstGeom prst="roundRect">
            <a:avLst/>
          </a:prstGeom>
          <a:solidFill>
            <a:srgbClr val="F4F8F9"/>
          </a:solidFill>
          <a:ln>
            <a:solidFill>
              <a:srgbClr val="21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53F"/>
                </a:solidFill>
              </a:defRPr>
            </a:pPr>
            <a:r>
              <a:t>Immune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17414"/>
            <a:ext cx="105155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232D37"/>
                </a:solidFill>
              </a:defRPr>
            </a:pPr>
            <a:r>
              <a:rPr sz="2400" dirty="0"/>
              <a:t>The mRNA acts as a temporary blueprint. Ribosomes translate it into the target protein, which can then stimulate an immune response.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94294" y="411480"/>
            <a:ext cx="977293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4253F"/>
                </a:solidFill>
              </a:defRPr>
            </a:pPr>
            <a:r>
              <a:rPr sz="4400" dirty="0"/>
              <a:t>Major Product: COVID-19 mRNA Vaccine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67955"/>
            <a:ext cx="10759287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</a:t>
            </a:r>
            <a:r>
              <a:rPr sz="2400" dirty="0" err="1"/>
              <a:t>Moderna's</a:t>
            </a:r>
            <a:r>
              <a:rPr sz="2400" dirty="0"/>
              <a:t> COVID-19 vaccine demonstrated that an mRNA platform could move from research to large-scale public-health use.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It provided a major proof of concept for mRNA vaccines during the COVID-19 pandemic.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The platform supported rapid design and manufacturing compared with traditional development timelines for many vaccines.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The experience also exposed practical issues involving distribution, access, safety monitoring and manufacturing scale.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86716" y="434340"/>
            <a:ext cx="926240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4253F"/>
                </a:solidFill>
              </a:defRPr>
            </a:pPr>
            <a:r>
              <a:rPr sz="4400" dirty="0"/>
              <a:t>Applications of </a:t>
            </a:r>
            <a:r>
              <a:rPr sz="4400" dirty="0" err="1"/>
              <a:t>Moderna's</a:t>
            </a:r>
            <a:r>
              <a:rPr sz="4400" dirty="0"/>
              <a:t>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59339"/>
            <a:ext cx="1060704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Infectious diseases: respiratory and other vaccine targets.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Oncology: personalized cancer vaccines and immune-based therapeutic approaches.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Rare diseases: potential use of mRNA to enable temporary production of therapeutic proteins.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Future therapeutics: broader exploration of mRNA-based medicines beyond preventive vaccination.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06831" y="411480"/>
            <a:ext cx="842217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4253F"/>
                </a:solidFill>
              </a:defRPr>
            </a:pPr>
            <a:r>
              <a:rPr sz="4400" dirty="0"/>
              <a:t>Advantages of the mRNA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56805"/>
            <a:ext cx="1060704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Speed: sequences can be designed and redesigned quickly.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Flexibility: one platform can encode different proteins by changing the mRNA sequence.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Manufacturing potential: the production process can be adapted across different mRNA products.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Versatility: applications extend across infectious diseases, cancer and potential therapeutic proteins.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Rapid-response potential: useful for emerging pathogens when a suitable antigen is known.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06434" y="411480"/>
            <a:ext cx="654865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4253F"/>
                </a:solidFill>
              </a:defRPr>
            </a:pPr>
            <a:r>
              <a:rPr sz="4400" dirty="0"/>
              <a:t>Challenges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mRNA is inherently fragile, so stability and formulation must be carefully controlled.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Efficient delivery into target cells remains a central technical challenge.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Lipid nanoparticle formulation, purification, quality control and fill-finish add manufacturing complexity.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Cold-chain and storage requirements can complicate distribution in some settings.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High R&amp;D, manufacturing, regulatory and clinical-development costs can limit access and scale.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31684" y="434340"/>
            <a:ext cx="575099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4253F"/>
                </a:solidFill>
              </a:defRPr>
            </a:pPr>
            <a:r>
              <a:rPr sz="4400" dirty="0"/>
              <a:t>Market &amp; Global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744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COVID-19 mRNA vaccines established mRNA as a major commercial biotechnology platform.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The success accelerated investment and research into additional mRNA vaccines and therapeutics.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mRNA became an important area of competition and innovation across biotechnology and pharmaceutical industries.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Global deployment also highlighted inequalities in manufacturing capacity, intellectual property, supply chains and access.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WHO technology-transfer initiatives reflect the broader push to build regional mRNA manufacturing capacity.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09419" y="516636"/>
            <a:ext cx="801700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4253F"/>
                </a:solidFill>
              </a:defRPr>
            </a:pPr>
            <a:r>
              <a:rPr sz="4400" dirty="0"/>
              <a:t>Future Prospects &amp; Case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744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Future opportunities include next-generation infectious-disease vaccines and personalized cancer vaccines.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mRNA may support faster responses to emerging pathogens and potentially new therapeutic approaches.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Key strength: a flexible, programmable platform that can be adapted to different biological targets.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Key limitation: success depends on solving stability, delivery, manufacturing, cost and access challenges.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• Overall: </a:t>
            </a:r>
            <a:r>
              <a:rPr sz="2400" dirty="0" err="1"/>
              <a:t>Moderna</a:t>
            </a:r>
            <a:r>
              <a:rPr sz="2400" dirty="0"/>
              <a:t> illustrates how biotechnology innovation can translate molecular biology into global health impact.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22054" y="411480"/>
            <a:ext cx="271741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4253F"/>
                </a:solidFill>
              </a:defRPr>
            </a:pPr>
            <a:r>
              <a:rPr sz="4400" dirty="0"/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232D37"/>
                </a:solidFill>
              </a:defRPr>
            </a:pPr>
            <a:r>
              <a:rPr sz="2400" dirty="0"/>
              <a:t>• World Health Organization. (2021). Evaluation of the quality, safety and efficacy of messenger RNA vaccines for the prevention of infectious diseases: Regulatory considerations.</a:t>
            </a:r>
          </a:p>
          <a:p>
            <a:pPr>
              <a:spcAft>
                <a:spcPts val="1200"/>
              </a:spcAft>
              <a:defRPr sz="1300">
                <a:solidFill>
                  <a:srgbClr val="232D37"/>
                </a:solidFill>
              </a:defRPr>
            </a:pPr>
            <a:r>
              <a:rPr sz="2400" dirty="0"/>
              <a:t>• World Health Organization. (2023). Potential benefits and limitations of mRNA technology for vaccine research and development.</a:t>
            </a:r>
          </a:p>
          <a:p>
            <a:pPr>
              <a:spcAft>
                <a:spcPts val="1200"/>
              </a:spcAft>
              <a:defRPr sz="1300">
                <a:solidFill>
                  <a:srgbClr val="232D37"/>
                </a:solidFill>
              </a:defRPr>
            </a:pPr>
            <a:r>
              <a:rPr sz="2400" dirty="0"/>
              <a:t>• World Health Organization. (2025). How are vaccines developed and produced?</a:t>
            </a:r>
          </a:p>
          <a:p>
            <a:pPr>
              <a:spcAft>
                <a:spcPts val="1200"/>
              </a:spcAft>
              <a:defRPr sz="1300">
                <a:solidFill>
                  <a:srgbClr val="232D37"/>
                </a:solidFill>
              </a:defRPr>
            </a:pPr>
            <a:r>
              <a:rPr sz="2400" dirty="0"/>
              <a:t>• World Health Organization. (2025). mRNA technology transfer </a:t>
            </a:r>
            <a:r>
              <a:rPr sz="2400" dirty="0" err="1"/>
              <a:t>programme</a:t>
            </a:r>
            <a:r>
              <a:rPr sz="2400" dirty="0"/>
              <a:t>.</a:t>
            </a:r>
          </a:p>
          <a:p>
            <a:pPr>
              <a:spcAft>
                <a:spcPts val="1200"/>
              </a:spcAft>
              <a:defRPr sz="1300">
                <a:solidFill>
                  <a:srgbClr val="232D37"/>
                </a:solidFill>
              </a:defRPr>
            </a:pPr>
            <a:r>
              <a:rPr sz="2400" dirty="0"/>
              <a:t>• World Health Organization. (2025). Global market landscape of vaccine manufacturing and procurement.</a:t>
            </a:r>
          </a:p>
          <a:p>
            <a:pPr>
              <a:spcAft>
                <a:spcPts val="1200"/>
              </a:spcAft>
              <a:defRPr sz="1300">
                <a:solidFill>
                  <a:srgbClr val="232D37"/>
                </a:solidFill>
              </a:defRPr>
            </a:pPr>
            <a:r>
              <a:rPr sz="2400" dirty="0"/>
              <a:t>• </a:t>
            </a:r>
            <a:r>
              <a:rPr sz="2400" dirty="0" err="1"/>
              <a:t>Moderna</a:t>
            </a:r>
            <a:r>
              <a:rPr sz="2400" dirty="0"/>
              <a:t>. (</a:t>
            </a:r>
            <a:r>
              <a:rPr sz="2400" dirty="0" err="1"/>
              <a:t>n.d.</a:t>
            </a:r>
            <a:r>
              <a:rPr sz="2400" dirty="0"/>
              <a:t>). </a:t>
            </a:r>
            <a:r>
              <a:rPr sz="2400" dirty="0" err="1"/>
              <a:t>Moderna</a:t>
            </a:r>
            <a:r>
              <a:rPr sz="2400" dirty="0"/>
              <a:t>: mRNA medicines and technology 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236</TotalTime>
  <Words>816</Words>
  <Application>Microsoft Office PowerPoint</Application>
  <PresentationFormat>Widescreen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Rounded MT Bold</vt:lpstr>
      <vt:lpstr>Tw Cen MT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Softsys computer</dc:creator>
  <cp:keywords/>
  <dc:description>generated using python-pptx</dc:description>
  <cp:lastModifiedBy>Moorche</cp:lastModifiedBy>
  <cp:revision>5</cp:revision>
  <dcterms:created xsi:type="dcterms:W3CDTF">2013-01-27T09:14:16Z</dcterms:created>
  <dcterms:modified xsi:type="dcterms:W3CDTF">2026-09-08T14:11:49Z</dcterms:modified>
  <cp:category/>
</cp:coreProperties>
</file>